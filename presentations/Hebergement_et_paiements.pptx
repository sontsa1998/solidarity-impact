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8fad00-1055-ec78-cb32-2faaa8366247}">
          <p14:sldIdLst>
            <p14:sldId id="256"/>
          </p14:sldIdLst>
        </p14:section>
        <p14:section name="Hébergement" id="{848ed865-f73b-5709-d0bc-bea3f12fac94}">
          <p14:sldIdLst>
            <p14:sldId id="257"/>
            <p14:sldId id="258"/>
          </p14:sldIdLst>
        </p14:section>
        <p14:section name="Paiements" id="{1f812675-49db-a683-6577-85966888ca8c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4140E"/>
                </a:solidFill>
                <a:latin typeface="+mj-lt"/>
              </a:defRPr>
            </a:pPr>
            <a:r>
              <a:rPr sz="1500" b="0" i="0" u="none" strike="noStrike">
                <a:solidFill>
                  <a:srgbClr val="24140E"/>
                </a:solidFill>
                <a:latin typeface="+mj-lt"/>
              </a:rPr>
              <a:t>Frais prélevés sur un don (en 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Stripe (carte)</c:v>
                </c:pt>
              </c:strCache>
            </c:strRef>
          </c:tx>
          <c:spPr>
            <a:solidFill>
              <a:srgbClr val="6B3E2E"/>
            </a:solidFill>
            <a:effectLst/>
          </c:spPr>
          <c:invertIfNegative val="0"/>
          <c:dLbls>
            <c:numFmt formatCode="0.00&quot; 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Don de 10 €</c:v>
                  </c:pt>
                  <c:pt idx="1">
                    <c:v>Don de 25 €</c:v>
                  </c:pt>
                  <c:pt idx="2">
                    <c:v>Don de 50 €</c:v>
                  </c:pt>
                  <c:pt idx="3">
                    <c:v>Don de 100 €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0.63</c:v>
                </c:pt>
                <c:pt idx="2">
                  <c:v>1</c:v>
                </c:pt>
                <c:pt idx="3">
                  <c:v>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PayPal</c:v>
                </c:pt>
              </c:strCache>
            </c:strRef>
          </c:tx>
          <c:spPr>
            <a:solidFill>
              <a:srgbClr val="F2C94C"/>
            </a:solidFill>
            <a:effectLst/>
          </c:spPr>
          <c:invertIfNegative val="0"/>
          <c:dLbls>
            <c:numFmt formatCode="0.00&quot; 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Don de 10 €</c:v>
                  </c:pt>
                  <c:pt idx="1">
                    <c:v>Don de 25 €</c:v>
                  </c:pt>
                  <c:pt idx="2">
                    <c:v>Don de 50 €</c:v>
                  </c:pt>
                  <c:pt idx="3">
                    <c:v>Don de 100 €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</c:v>
                </c:pt>
                <c:pt idx="1">
                  <c:v>1.08</c:v>
                </c:pt>
                <c:pt idx="2">
                  <c:v>1.8</c:v>
                </c:pt>
                <c:pt idx="3">
                  <c:v>3.25</c:v>
                </c:pt>
              </c:numCache>
            </c:numRef>
          </c:val>
        </c:ser>
        <c:dLbls>
          <c:numFmt formatCode="0.00&quot; 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4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665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4140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au bureau : choix de l'hébergement (pack Unlimited) puis point sur les paiements en ligne.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Tarifs relevés sur l’offre Hostinger (offre spéciale -79 % pour Unlimited). Les prix de renouvellement s’appliquent après les 48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principal : sans Node.js (absent de Premium), les routes de paiement Stripe/PayPal du site ne peuvent pas tourner.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Tarifs indicatifs pour des cartes européennes standard (octobre 2026), à confirmer sur stripe.com/fr/pricing et paypal.com/fr/business/fees. Cartes hors Europe : frais plus élevés.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à créer : NEXT_PUBLIC_SITE_URL, STRIPE_SECRET_KEY, PAYPAL_ENV, PAYPAL_CLIENT_ID, PAYPAL_CLIENT_SECRET. Ne jamais publier les clés secrètes.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1_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17320"/>
            <a:ext cx="2926080" cy="26243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4592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1_mar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65760"/>
            <a:ext cx="658368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Solidarity Impact — L'avenir à portée de main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6459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Hébergement et paiements du site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5661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Pourquoi le pack Hostinger Unlimited · Les dons en ligne avec Stripe et PayPal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ou Unlimited : le comparatif</a:t>
            </a:r>
            <a:endParaRPr lang="en-US" sz="3000" dirty="0"/>
          </a:p>
        </p:txBody>
      </p:sp>
      <p:graphicFrame>
        <p:nvGraphicFramePr>
          <p:cNvPr id="3" name="Tableau compara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017520"/>
                <a:gridCol w="384048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Premium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★ Unlimited (notre choix)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Prix de départ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2,99 €/mois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3,99 €/mois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 sur 48 mois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143,52 €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191,52 €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Prix au renouvellement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9,99 €/mois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16,99 €/mois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Nombre de sites web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Illimité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Stockage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20 Go (SSD)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50 Go (NVMe, plus rapide)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Sauvegardes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Chaque semaine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Chaque jour + restauration facile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CDN (site plus rapide partout)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413A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4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Node.js (fait tourner notre site)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413A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4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Boîtes mail (gratuites 1 an)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2 par site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Illimitées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Outils IA et emailing IA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413A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4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Support prioritaire 24 h/24, 7 j/7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4413A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4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Domaine offert 1 an, e-commerce, WordPress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44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D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Unlimited est le bon choix</a:t>
            </a:r>
            <a:endParaRPr lang="en-US" sz="3000" dirty="0"/>
          </a:p>
        </p:txBody>
      </p:sp>
      <p:sp>
        <p:nvSpPr>
          <p:cNvPr id="3" name="Carte 1"/>
          <p:cNvSpPr/>
          <p:nvPr/>
        </p:nvSpPr>
        <p:spPr>
          <a:xfrm>
            <a:off x="548640" y="1325880"/>
            <a:ext cx="3429000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270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55064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Node.js inclus : indispensable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Notre site a besoin de Node.js pour encaisser les dons par carte et PayPal. Avec Premium, ces paiements ne pourraient pas fonctionner.</a:t>
            </a:r>
            <a:endParaRPr lang="en-US" sz="1200" dirty="0"/>
          </a:p>
        </p:txBody>
      </p:sp>
      <p:sp>
        <p:nvSpPr>
          <p:cNvPr id="8" name="Carte 2"/>
          <p:cNvSpPr/>
          <p:nvPr/>
        </p:nvSpPr>
        <p:spPr>
          <a:xfrm>
            <a:off x="4251960" y="1325880"/>
            <a:ext cx="3429000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34840" y="152704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6550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20640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Une sauvegarde chaque jour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187452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En cas d'erreur ou de piratage, on remet le site de la veille, et non celui de la semaine dernière.</a:t>
            </a:r>
            <a:endParaRPr lang="en-US" sz="1200" dirty="0"/>
          </a:p>
        </p:txBody>
      </p:sp>
      <p:sp>
        <p:nvSpPr>
          <p:cNvPr id="13" name="Carte 3"/>
          <p:cNvSpPr/>
          <p:nvPr/>
        </p:nvSpPr>
        <p:spPr>
          <a:xfrm>
            <a:off x="548640" y="2990088"/>
            <a:ext cx="3429000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191256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31927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1272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 site plus rapide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538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Stockage NVMe et CDN : les pages s’affichent vite, en France comme au Cameroun.</a:t>
            </a:r>
            <a:endParaRPr lang="en-US" sz="1200" dirty="0"/>
          </a:p>
        </p:txBody>
      </p:sp>
      <p:sp>
        <p:nvSpPr>
          <p:cNvPr id="18" name="Carte 4"/>
          <p:cNvSpPr/>
          <p:nvPr/>
        </p:nvSpPr>
        <p:spPr>
          <a:xfrm>
            <a:off x="4251960" y="2990088"/>
            <a:ext cx="3429000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434840" y="3191256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331927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20640" y="31272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 adresses mail pour tous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120640" y="3538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contact@, president@, tresorier@… autant de boîtes que nécessaire, au nom de l’association.</a:t>
            </a:r>
            <a:endParaRPr lang="en-US" sz="1200" dirty="0"/>
          </a:p>
        </p:txBody>
      </p:sp>
      <p:sp>
        <p:nvSpPr>
          <p:cNvPr id="23" name="Carte 5"/>
          <p:cNvSpPr/>
          <p:nvPr/>
        </p:nvSpPr>
        <p:spPr>
          <a:xfrm>
            <a:off x="548640" y="4654296"/>
            <a:ext cx="3429000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1520" y="485546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983480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47914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Une aide prioritaire 24h/24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417320" y="520293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 le site tombe la veille du tournoi, on est aidé en priorité.</a:t>
            </a:r>
            <a:endParaRPr lang="en-US" sz="1200" dirty="0"/>
          </a:p>
        </p:txBody>
      </p:sp>
      <p:sp>
        <p:nvSpPr>
          <p:cNvPr id="28" name="Carte 6"/>
          <p:cNvSpPr/>
          <p:nvPr/>
        </p:nvSpPr>
        <p:spPr>
          <a:xfrm>
            <a:off x="4251960" y="4654296"/>
            <a:ext cx="3429000" cy="1389888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434840" y="485546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498348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120640" y="47914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 sites illimités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120640" y="520293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Un site pour le tournoi, un autre pour un futur projet au Cameroun : sans payer un pack de plus.</a:t>
            </a:r>
            <a:endParaRPr lang="en-US" sz="1200" dirty="0"/>
          </a:p>
        </p:txBody>
      </p:sp>
      <p:sp>
        <p:nvSpPr>
          <p:cNvPr id="33" name="Encadré prix"/>
          <p:cNvSpPr/>
          <p:nvPr/>
        </p:nvSpPr>
        <p:spPr>
          <a:xfrm>
            <a:off x="7818120" y="1325880"/>
            <a:ext cx="3794760" cy="4718304"/>
          </a:xfrm>
          <a:prstGeom prst="roundRect">
            <a:avLst>
              <a:gd name="adj" fmla="val 3614"/>
            </a:avLst>
          </a:prstGeom>
          <a:solidFill>
            <a:schemeClr val="tx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8138160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Ce que ça coûte en plus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138160" y="2057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+1 €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/mois</a:t>
            </a:r>
            <a:endParaRPr lang="en-US" sz="6600" dirty="0"/>
          </a:p>
        </p:txBody>
      </p:sp>
      <p:sp>
        <p:nvSpPr>
          <p:cNvPr id="36" name="Text 28"/>
          <p:cNvSpPr txBox="1"/>
          <p:nvPr/>
        </p:nvSpPr>
        <p:spPr>
          <a:xfrm>
            <a:off x="8138160" y="32461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191,52 € au lieu de 143,52 € pour 4 ans, soit 48 € de plus au total.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138160" y="402336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Pour 1 € de plus par mois, on obtient un site qui accepte les dons, mieux protégé et plus rapide.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À prévoir : après 48 mois, le prix passe à 16,99 €/mois (et le domaine est payant après 1 an).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dons en ligne : moyens de paiement et frais</a:t>
            </a:r>
            <a:endParaRPr lang="en-US" sz="3000" dirty="0"/>
          </a:p>
        </p:txBody>
      </p:sp>
      <p:sp>
        <p:nvSpPr>
          <p:cNvPr id="3" name="Carte bancaire via Stripe"/>
          <p:cNvSpPr/>
          <p:nvPr/>
        </p:nvSpPr>
        <p:spPr>
          <a:xfrm>
            <a:off x="548640" y="132588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Carte bancaire via Stripe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Comment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Le donateur paie sur la page sécurisée Stripe (Visa, Mastercard, CB, Apple Pay…).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Frais :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≈ 1,5 % + 0,25 € par don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Argent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Virement automatique sur le compte bancaire de l’association</a:t>
            </a:r>
            <a:endParaRPr lang="en-US" sz="1300" dirty="0"/>
          </a:p>
        </p:txBody>
      </p:sp>
      <p:sp>
        <p:nvSpPr>
          <p:cNvPr id="8" name="PayPal"/>
          <p:cNvSpPr/>
          <p:nvPr/>
        </p:nvSpPr>
        <p:spPr>
          <a:xfrm>
            <a:off x="548640" y="370332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00308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931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PayPal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Comment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Le donateur se connecte à PayPal ou paie par carte via PayPal.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Frais :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≈ 2,9 % + 0,35 € par don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Argent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Argent sur le solde PayPal, à virer vers la banque</a:t>
            </a:r>
            <a:endParaRPr lang="en-US" sz="1300" dirty="0"/>
          </a:p>
        </p:txBody>
      </p:sp>
      <p:graphicFrame>
        <p:nvGraphicFramePr>
          <p:cNvPr id="13" name="Graphique frais" descr=""/>
          <p:cNvGraphicFramePr/>
          <p:nvPr/>
        </p:nvGraphicFramePr>
        <p:xfrm>
          <a:off x="5989320" y="1325880"/>
          <a:ext cx="5623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À retenir"/>
          <p:cNvSpPr/>
          <p:nvPr/>
        </p:nvSpPr>
        <p:spPr>
          <a:xfrm>
            <a:off x="5989320" y="5257800"/>
            <a:ext cx="5623560" cy="868680"/>
          </a:xfrm>
          <a:prstGeom prst="roundRect">
            <a:avLst>
              <a:gd name="adj" fmla="val 10526"/>
            </a:avLst>
          </a:prstGeom>
          <a:solidFill>
            <a:srgbClr val="FEF6D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172200" y="53035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À retenir 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aucun abonnement, on ne paie que sur les dons reçus. Sur 25 €, l’association garde ≈ 24,37 € (Stripe) ou ≈ 23,92 € (PayPal). PayPal propose un tarif réduit aux associations, sur demande.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qu’il reste à faire pour activer les dons</a:t>
            </a:r>
            <a:endParaRPr lang="en-US" sz="3000" dirty="0"/>
          </a:p>
        </p:txBody>
      </p:sp>
      <p:sp>
        <p:nvSpPr>
          <p:cNvPr id="3" name="Déjà fait"/>
          <p:cNvSpPr/>
          <p:nvPr/>
        </p:nvSpPr>
        <p:spPr>
          <a:xfrm>
            <a:off x="548640" y="12801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EF7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258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4"/>
                </a:solidFill>
              </a:rPr>
              <a:t>Déjà fait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site est prêt. Formulaire de don, boutons Stripe et PayPal, page « Merci ». Il ne manque que les comptes et les clés.</a:t>
            </a:r>
            <a:endParaRPr lang="en-US" sz="1400" dirty="0"/>
          </a:p>
        </p:txBody>
      </p:sp>
      <p:sp>
        <p:nvSpPr>
          <p:cNvPr id="6" name="Étape 1"/>
          <p:cNvSpPr/>
          <p:nvPr/>
        </p:nvSpPr>
        <p:spPr>
          <a:xfrm>
            <a:off x="548640" y="23774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614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92808" y="2560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429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Compte bancaire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11480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Un compte au nom de l’association, avec son RIB. Jamais un compte personnel.</a:t>
            </a:r>
            <a:endParaRPr lang="en-US" sz="1200" dirty="0"/>
          </a:p>
        </p:txBody>
      </p:sp>
      <p:sp>
        <p:nvSpPr>
          <p:cNvPr id="12" name="Étape 2"/>
          <p:cNvSpPr/>
          <p:nvPr/>
        </p:nvSpPr>
        <p:spPr>
          <a:xfrm>
            <a:off x="2807208" y="23774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990088" y="26060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276148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51376" y="2560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2990088" y="3429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Ouvrir Stripe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990088" y="411480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Type « association », SIREN 105 826 440, pièce d’identité du président, IBAN. On récupère la clé secrète.</a:t>
            </a:r>
            <a:endParaRPr lang="en-US" sz="1200" dirty="0"/>
          </a:p>
        </p:txBody>
      </p:sp>
      <p:sp>
        <p:nvSpPr>
          <p:cNvPr id="18" name="Étape 3"/>
          <p:cNvSpPr/>
          <p:nvPr/>
        </p:nvSpPr>
        <p:spPr>
          <a:xfrm>
            <a:off x="5065776" y="23774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248656" y="26060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27614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9944" y="2560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16"/>
          <p:cNvSpPr txBox="1"/>
          <p:nvPr/>
        </p:nvSpPr>
        <p:spPr>
          <a:xfrm>
            <a:off x="5248656" y="3429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Ouvrir PayPal Business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248656" y="411480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Compte « association » relié à la banque, puis une application sur developer.paypal.com : Client ID et Secret.</a:t>
            </a:r>
            <a:endParaRPr lang="en-US" sz="1200" dirty="0"/>
          </a:p>
        </p:txBody>
      </p:sp>
      <p:sp>
        <p:nvSpPr>
          <p:cNvPr id="24" name="Étape 4"/>
          <p:cNvSpPr/>
          <p:nvPr/>
        </p:nvSpPr>
        <p:spPr>
          <a:xfrm>
            <a:off x="7324344" y="23774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507224" y="26060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76148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668512" y="2560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Text 21"/>
          <p:cNvSpPr txBox="1"/>
          <p:nvPr/>
        </p:nvSpPr>
        <p:spPr>
          <a:xfrm>
            <a:off x="7507224" y="3429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Mettre les clés sur Hostinger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507224" y="411480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Dans hPanel, application Node.js : renseigner les variables (voir PAIEMENTS.md), puis redémarrer le site.</a:t>
            </a:r>
            <a:endParaRPr lang="en-US" sz="1200" dirty="0"/>
          </a:p>
        </p:txBody>
      </p:sp>
      <p:sp>
        <p:nvSpPr>
          <p:cNvPr id="30" name="Étape 5"/>
          <p:cNvSpPr/>
          <p:nvPr/>
        </p:nvSpPr>
        <p:spPr>
          <a:xfrm>
            <a:off x="9582912" y="23774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BDDD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765792" y="26060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76148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927080" y="2560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200" dirty="0"/>
          </a:p>
        </p:txBody>
      </p:sp>
      <p:sp>
        <p:nvSpPr>
          <p:cNvPr id="34" name="Text 26"/>
          <p:cNvSpPr txBox="1"/>
          <p:nvPr/>
        </p:nvSpPr>
        <p:spPr>
          <a:xfrm>
            <a:off x="9765792" y="3429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Tester, puis ouvrir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9765792" y="411480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Essais avec les clés de test (carte 4242 4242 4242 4242), passage en réel, puis un vrai don de 1 € pour vérifier.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Détail pas à pas : fichier PAIEMENTS.md du projet.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idarity Impact">
  <a:themeElements>
    <a:clrScheme name="Solidarity Impact">
      <a:dk1>
        <a:srgbClr val="24140E"/>
      </a:dk1>
      <a:lt1>
        <a:srgbClr val="FFFFFF"/>
      </a:lt1>
      <a:dk2>
        <a:srgbClr val="6B3E2E"/>
      </a:dk2>
      <a:lt2>
        <a:srgbClr val="FDF9F7"/>
      </a:lt2>
      <a:accent1>
        <a:srgbClr val="6B3E2E"/>
      </a:accent1>
      <a:accent2>
        <a:srgbClr val="F2C94C"/>
      </a:accent2>
      <a:accent3>
        <a:srgbClr val="3FA45B"/>
      </a:accent3>
      <a:accent4>
        <a:srgbClr val="86655A"/>
      </a:accent4>
      <a:accent5>
        <a:srgbClr val="EBDDD4"/>
      </a:accent5>
      <a:accent6>
        <a:srgbClr val="D9A82B"/>
      </a:accent6>
      <a:hlink>
        <a:srgbClr val="6B3E2E"/>
      </a:hlink>
      <a:folHlink>
        <a:srgbClr val="86655A"/>
      </a:folHlink>
    </a:clrScheme>
    <a:fontScheme name="Solidarity Impact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Solidarity Impact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Hébergement et paiements du site</dc:title>
  <dc:subject>PptxGenJS Presentation</dc:subject>
  <dc:creator>Solidarity Impact</dc:creator>
  <cp:lastModifiedBy>Solidarity Impact</cp:lastModifiedBy>
  <cp:revision>1</cp:revision>
  <dcterms:created xsi:type="dcterms:W3CDTF">2026-10-11T12:02:22Z</dcterms:created>
  <dcterms:modified xsi:type="dcterms:W3CDTF">2026-10-11T12:02:22Z</dcterms:modified>
</cp:coreProperties>
</file>